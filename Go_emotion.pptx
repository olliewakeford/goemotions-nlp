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3244850" cx="5765800"/>
  <p:notesSz cx="5765800" cy="3244850"/>
  <p:embeddedFontLst>
    <p:embeddedFont>
      <p:font typeface="Tahoma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tSa2QBWqGFvDE/YzLxjoP7EW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4812F0-918E-49CC-A699-0904177CFC37}">
  <a:tblStyle styleId="{4C4812F0-918E-49CC-A699-0904177CFC3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Tahoma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4221087" y="3063848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4141470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5"/>
          <p:cNvSpPr/>
          <p:nvPr/>
        </p:nvSpPr>
        <p:spPr>
          <a:xfrm>
            <a:off x="4319272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5"/>
          <p:cNvSpPr/>
          <p:nvPr/>
        </p:nvSpPr>
        <p:spPr>
          <a:xfrm>
            <a:off x="4475618" y="3053536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5"/>
          <p:cNvSpPr/>
          <p:nvPr/>
        </p:nvSpPr>
        <p:spPr>
          <a:xfrm>
            <a:off x="4412450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4772318" y="3066236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5"/>
          <p:cNvSpPr/>
          <p:nvPr/>
        </p:nvSpPr>
        <p:spPr>
          <a:xfrm>
            <a:off x="468341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5"/>
          <p:cNvSpPr/>
          <p:nvPr/>
        </p:nvSpPr>
        <p:spPr>
          <a:xfrm>
            <a:off x="4759618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5"/>
          <p:cNvSpPr/>
          <p:nvPr/>
        </p:nvSpPr>
        <p:spPr>
          <a:xfrm>
            <a:off x="5030598" y="3053536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/>
          <p:nvPr/>
        </p:nvSpPr>
        <p:spPr>
          <a:xfrm>
            <a:off x="495439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5"/>
          <p:cNvSpPr/>
          <p:nvPr/>
        </p:nvSpPr>
        <p:spPr>
          <a:xfrm>
            <a:off x="5030598" y="3091637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5"/>
          <p:cNvSpPr/>
          <p:nvPr/>
        </p:nvSpPr>
        <p:spPr>
          <a:xfrm>
            <a:off x="5301577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5"/>
          <p:cNvSpPr/>
          <p:nvPr/>
        </p:nvSpPr>
        <p:spPr>
          <a:xfrm>
            <a:off x="5603025" y="3084016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5"/>
          <p:cNvSpPr/>
          <p:nvPr/>
        </p:nvSpPr>
        <p:spPr>
          <a:xfrm>
            <a:off x="5575961" y="3057522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5"/>
          <p:cNvSpPr/>
          <p:nvPr/>
        </p:nvSpPr>
        <p:spPr>
          <a:xfrm>
            <a:off x="5481104" y="3053536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5"/>
          <p:cNvSpPr/>
          <p:nvPr/>
        </p:nvSpPr>
        <p:spPr>
          <a:xfrm>
            <a:off x="75729" y="668400"/>
            <a:ext cx="5608955" cy="82550"/>
          </a:xfrm>
          <a:custGeom>
            <a:rect b="b" l="l" r="r" t="t"/>
            <a:pathLst>
              <a:path extrusionOk="0" h="82550" w="56089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5608620" y="82384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5"/>
          <p:cNvSpPr/>
          <p:nvPr/>
        </p:nvSpPr>
        <p:spPr>
          <a:xfrm>
            <a:off x="126530" y="731659"/>
            <a:ext cx="5608955" cy="652145"/>
          </a:xfrm>
          <a:custGeom>
            <a:rect b="b" l="l" r="r" t="t"/>
            <a:pathLst>
              <a:path extrusionOk="0" h="652144" w="5608955">
                <a:moveTo>
                  <a:pt x="5608620" y="0"/>
                </a:moveTo>
                <a:lnTo>
                  <a:pt x="0" y="0"/>
                </a:lnTo>
                <a:lnTo>
                  <a:pt x="0" y="651701"/>
                </a:lnTo>
                <a:lnTo>
                  <a:pt x="5608620" y="651701"/>
                </a:lnTo>
                <a:lnTo>
                  <a:pt x="560862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5"/>
          <p:cNvSpPr/>
          <p:nvPr/>
        </p:nvSpPr>
        <p:spPr>
          <a:xfrm>
            <a:off x="75729" y="712822"/>
            <a:ext cx="5608955" cy="619760"/>
          </a:xfrm>
          <a:custGeom>
            <a:rect b="b" l="l" r="r" t="t"/>
            <a:pathLst>
              <a:path extrusionOk="0" h="619760" w="5608955">
                <a:moveTo>
                  <a:pt x="5608620" y="0"/>
                </a:moveTo>
                <a:lnTo>
                  <a:pt x="0" y="0"/>
                </a:lnTo>
                <a:lnTo>
                  <a:pt x="0" y="568937"/>
                </a:lnTo>
                <a:lnTo>
                  <a:pt x="4008" y="588662"/>
                </a:lnTo>
                <a:lnTo>
                  <a:pt x="14922" y="604815"/>
                </a:lnTo>
                <a:lnTo>
                  <a:pt x="31075" y="615729"/>
                </a:lnTo>
                <a:lnTo>
                  <a:pt x="50800" y="619737"/>
                </a:lnTo>
                <a:lnTo>
                  <a:pt x="5557819" y="619737"/>
                </a:lnTo>
                <a:lnTo>
                  <a:pt x="5577544" y="615729"/>
                </a:lnTo>
                <a:lnTo>
                  <a:pt x="5593697" y="604815"/>
                </a:lnTo>
                <a:lnTo>
                  <a:pt x="5604611" y="588662"/>
                </a:lnTo>
                <a:lnTo>
                  <a:pt x="5608620" y="568937"/>
                </a:lnTo>
                <a:lnTo>
                  <a:pt x="5608620" y="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5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1015860" y="835964"/>
            <a:ext cx="372872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/>
          <p:nvPr/>
        </p:nvSpPr>
        <p:spPr>
          <a:xfrm>
            <a:off x="4221087" y="3063848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7"/>
          <p:cNvSpPr/>
          <p:nvPr/>
        </p:nvSpPr>
        <p:spPr>
          <a:xfrm>
            <a:off x="4141470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7"/>
          <p:cNvSpPr/>
          <p:nvPr/>
        </p:nvSpPr>
        <p:spPr>
          <a:xfrm>
            <a:off x="4319272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7"/>
          <p:cNvSpPr/>
          <p:nvPr/>
        </p:nvSpPr>
        <p:spPr>
          <a:xfrm>
            <a:off x="4475618" y="3053536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7"/>
          <p:cNvSpPr/>
          <p:nvPr/>
        </p:nvSpPr>
        <p:spPr>
          <a:xfrm>
            <a:off x="4412450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7"/>
          <p:cNvSpPr/>
          <p:nvPr/>
        </p:nvSpPr>
        <p:spPr>
          <a:xfrm>
            <a:off x="4772318" y="3066236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7"/>
          <p:cNvSpPr/>
          <p:nvPr/>
        </p:nvSpPr>
        <p:spPr>
          <a:xfrm>
            <a:off x="468341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7"/>
          <p:cNvSpPr/>
          <p:nvPr/>
        </p:nvSpPr>
        <p:spPr>
          <a:xfrm>
            <a:off x="4759618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7"/>
          <p:cNvSpPr/>
          <p:nvPr/>
        </p:nvSpPr>
        <p:spPr>
          <a:xfrm>
            <a:off x="5030598" y="3053536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7"/>
          <p:cNvSpPr/>
          <p:nvPr/>
        </p:nvSpPr>
        <p:spPr>
          <a:xfrm>
            <a:off x="495439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5030598" y="3091637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7"/>
          <p:cNvSpPr/>
          <p:nvPr/>
        </p:nvSpPr>
        <p:spPr>
          <a:xfrm>
            <a:off x="5301577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7"/>
          <p:cNvSpPr/>
          <p:nvPr/>
        </p:nvSpPr>
        <p:spPr>
          <a:xfrm>
            <a:off x="5603025" y="3084016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5575961" y="3057522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5481104" y="3053536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4221087" y="3063848"/>
            <a:ext cx="43180" cy="30480"/>
          </a:xfrm>
          <a:custGeom>
            <a:rect b="b" l="l" r="r" t="t"/>
            <a:pathLst>
              <a:path extrusionOk="0" h="30480" w="431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4"/>
          <p:cNvSpPr/>
          <p:nvPr/>
        </p:nvSpPr>
        <p:spPr>
          <a:xfrm>
            <a:off x="4141470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4"/>
          <p:cNvSpPr/>
          <p:nvPr/>
        </p:nvSpPr>
        <p:spPr>
          <a:xfrm>
            <a:off x="4319272" y="3059886"/>
            <a:ext cx="25400" cy="38100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4"/>
          <p:cNvSpPr/>
          <p:nvPr/>
        </p:nvSpPr>
        <p:spPr>
          <a:xfrm>
            <a:off x="4475618" y="3053536"/>
            <a:ext cx="64135" cy="50800"/>
          </a:xfrm>
          <a:custGeom>
            <a:rect b="b" l="l" r="r" t="t"/>
            <a:pathLst>
              <a:path extrusionOk="0" h="50800" w="64135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extrusionOk="0" h="50800" w="64135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extrusionOk="0" h="50800" w="64135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14"/>
          <p:cNvSpPr/>
          <p:nvPr/>
        </p:nvSpPr>
        <p:spPr>
          <a:xfrm>
            <a:off x="4412450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4772318" y="3066236"/>
            <a:ext cx="38100" cy="0"/>
          </a:xfrm>
          <a:custGeom>
            <a:rect b="b" l="l" r="r" t="t"/>
            <a:pathLst>
              <a:path extrusionOk="0" h="120000"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468341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4"/>
          <p:cNvSpPr/>
          <p:nvPr/>
        </p:nvSpPr>
        <p:spPr>
          <a:xfrm>
            <a:off x="4759618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4"/>
          <p:cNvSpPr/>
          <p:nvPr/>
        </p:nvSpPr>
        <p:spPr>
          <a:xfrm>
            <a:off x="5030598" y="3053536"/>
            <a:ext cx="50800" cy="25400"/>
          </a:xfrm>
          <a:custGeom>
            <a:rect b="b" l="l" r="r" t="t"/>
            <a:pathLst>
              <a:path extrusionOk="0" h="25400" w="50800">
                <a:moveTo>
                  <a:pt x="0" y="0"/>
                </a:moveTo>
                <a:lnTo>
                  <a:pt x="38100" y="0"/>
                </a:lnTo>
              </a:path>
              <a:path extrusionOk="0" h="25400" w="50800">
                <a:moveTo>
                  <a:pt x="12700" y="12700"/>
                </a:moveTo>
                <a:lnTo>
                  <a:pt x="50800" y="12700"/>
                </a:lnTo>
              </a:path>
              <a:path extrusionOk="0" h="25400" w="508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4"/>
          <p:cNvSpPr/>
          <p:nvPr/>
        </p:nvSpPr>
        <p:spPr>
          <a:xfrm>
            <a:off x="4954397" y="3059886"/>
            <a:ext cx="203200" cy="38100"/>
          </a:xfrm>
          <a:custGeom>
            <a:rect b="b" l="l" r="r" t="t"/>
            <a:pathLst>
              <a:path extrusionOk="0" h="38100" w="2032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extrusionOk="0" h="38100" w="2032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4"/>
          <p:cNvSpPr/>
          <p:nvPr/>
        </p:nvSpPr>
        <p:spPr>
          <a:xfrm>
            <a:off x="5030598" y="3091637"/>
            <a:ext cx="50800" cy="12700"/>
          </a:xfrm>
          <a:custGeom>
            <a:rect b="b" l="l" r="r" t="t"/>
            <a:pathLst>
              <a:path extrusionOk="0" h="12700" w="50800">
                <a:moveTo>
                  <a:pt x="0" y="0"/>
                </a:moveTo>
                <a:lnTo>
                  <a:pt x="38100" y="0"/>
                </a:lnTo>
              </a:path>
              <a:path extrusionOk="0" h="12700" w="508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cap="flat" cmpd="sng" w="9525">
            <a:solidFill>
              <a:srgbClr val="D6D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4"/>
          <p:cNvSpPr/>
          <p:nvPr/>
        </p:nvSpPr>
        <p:spPr>
          <a:xfrm>
            <a:off x="5301577" y="3053536"/>
            <a:ext cx="50800" cy="50800"/>
          </a:xfrm>
          <a:custGeom>
            <a:rect b="b" l="l" r="r" t="t"/>
            <a:pathLst>
              <a:path extrusionOk="0" h="50800" w="50800">
                <a:moveTo>
                  <a:pt x="0" y="0"/>
                </a:moveTo>
                <a:lnTo>
                  <a:pt x="38100" y="0"/>
                </a:lnTo>
              </a:path>
              <a:path extrusionOk="0" h="50800" w="50800">
                <a:moveTo>
                  <a:pt x="12700" y="12700"/>
                </a:moveTo>
                <a:lnTo>
                  <a:pt x="50800" y="12700"/>
                </a:lnTo>
              </a:path>
              <a:path extrusionOk="0" h="50800" w="50800">
                <a:moveTo>
                  <a:pt x="12700" y="25400"/>
                </a:moveTo>
                <a:lnTo>
                  <a:pt x="50800" y="25400"/>
                </a:lnTo>
              </a:path>
              <a:path extrusionOk="0" h="50800" w="50800">
                <a:moveTo>
                  <a:pt x="0" y="38100"/>
                </a:moveTo>
                <a:lnTo>
                  <a:pt x="38100" y="38100"/>
                </a:lnTo>
              </a:path>
              <a:path extrusionOk="0" h="50800" w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4"/>
          <p:cNvSpPr/>
          <p:nvPr/>
        </p:nvSpPr>
        <p:spPr>
          <a:xfrm>
            <a:off x="5603025" y="3084016"/>
            <a:ext cx="20320" cy="20320"/>
          </a:xfrm>
          <a:custGeom>
            <a:rect b="b" l="l" r="r" t="t"/>
            <a:pathLst>
              <a:path extrusionOk="0" h="20319" w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4"/>
          <p:cNvSpPr/>
          <p:nvPr/>
        </p:nvSpPr>
        <p:spPr>
          <a:xfrm>
            <a:off x="5575961" y="3057522"/>
            <a:ext cx="30480" cy="30480"/>
          </a:xfrm>
          <a:custGeom>
            <a:rect b="b" l="l" r="r" t="t"/>
            <a:pathLst>
              <a:path extrusionOk="0" h="30480" w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5481104" y="3053536"/>
            <a:ext cx="233679" cy="50800"/>
          </a:xfrm>
          <a:custGeom>
            <a:rect b="b" l="l" r="r" t="t"/>
            <a:pathLst>
              <a:path extrusionOk="0" h="50800" w="233679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extrusionOk="0" h="50800" w="233679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extrusionOk="0" h="50800" w="233679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extrusionOk="0" h="50800" w="233679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cap="flat" cmpd="sng" w="9525">
            <a:solidFill>
              <a:srgbClr val="ADA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4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1015860" y="835964"/>
            <a:ext cx="3728720" cy="1271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4438777" y="3151037"/>
            <a:ext cx="532129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12700">
              <a:lnSpc>
                <a:spcPct val="116000"/>
              </a:lnSpc>
              <a:spcBef>
                <a:spcPts val="0"/>
              </a:spcBef>
              <a:buNone/>
              <a:defRPr b="0" i="0" sz="500">
                <a:solidFill>
                  <a:srgbClr val="7A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3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Relationship Id="rId6" Type="http://schemas.openxmlformats.org/officeDocument/2006/relationships/slide" Target="/ppt/slides/slide13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slide" Target="/ppt/slides/slide13.xml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slide" Target="/ppt/slides/slide13.xml"/><Relationship Id="rId6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slide" Target="/ppt/slides/slide1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1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slide" Target="/ppt/slides/slide1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Relationship Id="rId8" Type="http://schemas.openxmlformats.org/officeDocument/2006/relationships/slide" Target="/ppt/slides/slide1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slide" Target="/ppt/slides/slide1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19.png"/><Relationship Id="rId6" Type="http://schemas.openxmlformats.org/officeDocument/2006/relationships/slide" Target="/ppt/slides/slide13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/>
        </p:nvSpPr>
        <p:spPr>
          <a:xfrm>
            <a:off x="78355" y="706984"/>
            <a:ext cx="56091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6500">
            <a:spAutoFit/>
          </a:bodyPr>
          <a:lstStyle/>
          <a:p>
            <a:pPr indent="0" lvl="0" marL="0" marR="939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Fine-Grained Emotion Classification 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93345" rtl="0" algn="ctr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Using TF-IDF, BiLSTM, and RoBERTa on the GoEmotions Dataset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78406" y="1534292"/>
            <a:ext cx="26034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Oliver Wakeford	   Ahzam Afaq	Hamza Tarazi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Arial"/>
                <a:ea typeface="Arial"/>
                <a:cs typeface="Arial"/>
                <a:sym typeface="Arial"/>
              </a:rPr>
              <a:t>Hands-on NLP Course Project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February 13, 2026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95" name="Google Shape;95;p1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101" name="Google Shape;101;p1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0" y="0"/>
            <a:ext cx="5760085" cy="483234"/>
          </a:xfrm>
          <a:custGeom>
            <a:rect b="b" l="l" r="r" t="t"/>
            <a:pathLst>
              <a:path extrusionOk="0" h="483234" w="5760085">
                <a:moveTo>
                  <a:pt x="5759996" y="0"/>
                </a:moveTo>
                <a:lnTo>
                  <a:pt x="0" y="0"/>
                </a:lnTo>
                <a:lnTo>
                  <a:pt x="0" y="482968"/>
                </a:lnTo>
                <a:lnTo>
                  <a:pt x="5759996" y="482968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Fine-Grained Emotions?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Beyond Positive vs. Negative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17131" y="728319"/>
            <a:ext cx="2580005" cy="198755"/>
          </a:xfrm>
          <a:custGeom>
            <a:rect b="b" l="l" r="r" t="t"/>
            <a:pathLst>
              <a:path extrusionOk="0" h="198755" w="2580005">
                <a:moveTo>
                  <a:pt x="252894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79742" y="198367"/>
                </a:lnTo>
                <a:lnTo>
                  <a:pt x="2579742" y="50800"/>
                </a:lnTo>
                <a:lnTo>
                  <a:pt x="2575734" y="31075"/>
                </a:lnTo>
                <a:lnTo>
                  <a:pt x="2564820" y="14922"/>
                </a:lnTo>
                <a:lnTo>
                  <a:pt x="2548667" y="4008"/>
                </a:lnTo>
                <a:lnTo>
                  <a:pt x="252894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56706" y="557405"/>
            <a:ext cx="18909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Traditional Sentiment Analysis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2963163" y="728319"/>
            <a:ext cx="2580005" cy="198755"/>
          </a:xfrm>
          <a:custGeom>
            <a:rect b="b" l="l" r="r" t="t"/>
            <a:pathLst>
              <a:path extrusionOk="0" h="198755" w="2580004">
                <a:moveTo>
                  <a:pt x="252894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79742" y="198367"/>
                </a:lnTo>
                <a:lnTo>
                  <a:pt x="2579742" y="50800"/>
                </a:lnTo>
                <a:lnTo>
                  <a:pt x="2575734" y="31075"/>
                </a:lnTo>
                <a:lnTo>
                  <a:pt x="2564820" y="14922"/>
                </a:lnTo>
                <a:lnTo>
                  <a:pt x="2548667" y="4008"/>
                </a:lnTo>
                <a:lnTo>
                  <a:pt x="2528942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3013964" y="756767"/>
            <a:ext cx="1332865" cy="153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Fine-Grained Analysis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963164" y="927065"/>
            <a:ext cx="25800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675">
            <a:spAutoFit/>
          </a:bodyPr>
          <a:lstStyle/>
          <a:p>
            <a:pPr indent="0" lvl="0" marL="0" marR="9271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27 Emotions + Neutral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82550" marR="175260" rtl="0" algn="ctr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Admiration, Amusement, Anger, Confusion, Gratitude, Grief...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05" y="2307691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705" y="2497480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705" y="2687269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113824" y="816950"/>
            <a:ext cx="30159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925">
            <a:spAutoFit/>
          </a:bodyPr>
          <a:lstStyle/>
          <a:p>
            <a:pPr indent="0" lvl="0" marL="3238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Binary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326390" rtl="0" algn="ctr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Positive	Negative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32639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009900"/>
                </a:solidFill>
                <a:latin typeface="Tahoma"/>
                <a:ea typeface="Tahoma"/>
                <a:cs typeface="Tahoma"/>
                <a:sym typeface="Tahoma"/>
              </a:rPr>
              <a:t>Mood</a:t>
            </a:r>
            <a:r>
              <a:rPr lang="en-US" sz="2450">
                <a:solidFill>
                  <a:srgbClr val="009900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lang="en-US" sz="2050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Mood</a:t>
            </a:r>
            <a:endParaRPr sz="205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”I can’t believe you did that”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Context A: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Anger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(betrayal)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Context B: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Admiration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(impressive feat) Context C: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Amusement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(funny mistake)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113830" y="2920160"/>
            <a:ext cx="3877945" cy="14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latin typeface="Arial"/>
                <a:ea typeface="Arial"/>
                <a:cs typeface="Arial"/>
                <a:sym typeface="Arial"/>
              </a:rPr>
              <a:t>Applications: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Empathetic Chatbots 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Mental Health Monitoring 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Customer Feedback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2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125" name="Google Shape;125;p2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0" y="0"/>
            <a:ext cx="5760085" cy="483234"/>
          </a:xfrm>
          <a:custGeom>
            <a:rect b="b" l="l" r="r" t="t"/>
            <a:pathLst>
              <a:path extrusionOk="0" h="483234" w="5760085">
                <a:moveTo>
                  <a:pt x="5759996" y="0"/>
                </a:moveTo>
                <a:lnTo>
                  <a:pt x="0" y="0"/>
                </a:lnTo>
                <a:lnTo>
                  <a:pt x="0" y="482968"/>
                </a:lnTo>
                <a:lnTo>
                  <a:pt x="5759996" y="482968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 txBox="1"/>
          <p:nvPr>
            <p:ph type="title"/>
          </p:nvPr>
        </p:nvSpPr>
        <p:spPr>
          <a:xfrm>
            <a:off x="95300" y="10450"/>
            <a:ext cx="27882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GoEmotions Dataset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Demszky et al. (2020)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016" y="736264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016" y="926053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016" y="1255009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08" y="1314606"/>
            <a:ext cx="48018" cy="48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595" y="1424411"/>
            <a:ext cx="48018" cy="4801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"/>
          <p:cNvSpPr txBox="1"/>
          <p:nvPr/>
        </p:nvSpPr>
        <p:spPr>
          <a:xfrm>
            <a:off x="382608" y="647000"/>
            <a:ext cx="4757100" cy="22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54,263 Reddit comments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71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Taxonomy: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27 emotions + Neutral (28 classes) 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Annotation: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900"/>
              <a:t>Min. 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3 raters per example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94% agreement on at least one label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127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Multi-label Task: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16.4% of samples have 2+ labels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b="1" lang="en-US" sz="1000">
                <a:latin typeface="Tahoma"/>
                <a:ea typeface="Tahoma"/>
                <a:cs typeface="Tahoma"/>
                <a:sym typeface="Tahoma"/>
              </a:rPr>
              <a:t>Example: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000">
                <a:solidFill>
                  <a:schemeClr val="dk1"/>
                </a:solidFill>
              </a:rPr>
              <a:t>"Wow, I had no idea you built that all by yourself! It looks incredible."</a:t>
            </a:r>
            <a:endParaRPr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Labels: Surprise + Admiration</a:t>
            </a:r>
            <a:endParaRPr sz="10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016" y="1766479"/>
            <a:ext cx="59601" cy="59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3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140" name="Google Shape;140;p3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3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146" name="Google Shape;146;p3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0390" y="2437742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016" y="2125642"/>
            <a:ext cx="59601" cy="5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 txBox="1"/>
          <p:nvPr>
            <p:ph type="title"/>
          </p:nvPr>
        </p:nvSpPr>
        <p:spPr>
          <a:xfrm>
            <a:off x="95300" y="10450"/>
            <a:ext cx="4965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Dataset Challenge: Extreme Class Imbalance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75729" y="660920"/>
            <a:ext cx="5608955" cy="198755"/>
          </a:xfrm>
          <a:custGeom>
            <a:rect b="b" l="l" r="r" t="t"/>
            <a:pathLst>
              <a:path extrusionOk="0" h="198755" w="5608955">
                <a:moveTo>
                  <a:pt x="5557819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5608620" y="198367"/>
                </a:lnTo>
                <a:lnTo>
                  <a:pt x="5608620" y="50800"/>
                </a:lnTo>
                <a:lnTo>
                  <a:pt x="5604611" y="31075"/>
                </a:lnTo>
                <a:lnTo>
                  <a:pt x="5593697" y="14922"/>
                </a:lnTo>
                <a:lnTo>
                  <a:pt x="5577544" y="4008"/>
                </a:lnTo>
                <a:lnTo>
                  <a:pt x="5557819" y="0"/>
                </a:lnTo>
                <a:close/>
              </a:path>
            </a:pathLst>
          </a:custGeom>
          <a:solidFill>
            <a:srgbClr val="8D131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126513" y="689375"/>
            <a:ext cx="1886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 Gap 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-108595" y="785858"/>
            <a:ext cx="56091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272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Neutral: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∼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18,000 training samples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8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Grief: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∼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100 training samples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8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Ratio: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180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×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gap between largest and smallest class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381" y="1828717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381" y="2029256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4"/>
          <p:cNvSpPr txBox="1"/>
          <p:nvPr/>
        </p:nvSpPr>
        <p:spPr>
          <a:xfrm>
            <a:off x="126531" y="1544611"/>
            <a:ext cx="25629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Evaluation Strategy: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We use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Macro F1 Score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marR="508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Treats all 28 emotions equally regardless of frequency.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381" y="2628142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381" y="2823481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4"/>
          <p:cNvSpPr txBox="1"/>
          <p:nvPr/>
        </p:nvSpPr>
        <p:spPr>
          <a:xfrm>
            <a:off x="160125" y="2346600"/>
            <a:ext cx="16932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Published Baselines: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Logistic Regression:0.38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BERT-base: 0.46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4" name="Google Shape;164;p4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165" name="Google Shape;165;p4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4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171" name="Google Shape;171;p4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  <p:pic>
        <p:nvPicPr>
          <p:cNvPr id="172" name="Google Shape;172;p4" title="PHOTO-2026-02-12-22-14-4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9650" y="931650"/>
            <a:ext cx="2656750" cy="20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/>
          <p:nvPr/>
        </p:nvSpPr>
        <p:spPr>
          <a:xfrm>
            <a:off x="0" y="0"/>
            <a:ext cx="5760085" cy="483234"/>
          </a:xfrm>
          <a:custGeom>
            <a:rect b="b" l="l" r="r" t="t"/>
            <a:pathLst>
              <a:path extrusionOk="0" h="483234" w="5760085">
                <a:moveTo>
                  <a:pt x="5759996" y="0"/>
                </a:moveTo>
                <a:lnTo>
                  <a:pt x="0" y="0"/>
                </a:lnTo>
                <a:lnTo>
                  <a:pt x="0" y="482968"/>
                </a:lnTo>
                <a:lnTo>
                  <a:pt x="5759996" y="482968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Progression Overview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Three Models, One Question: What Does Each Architecture Add?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5"/>
          <p:cNvGrpSpPr/>
          <p:nvPr/>
        </p:nvGrpSpPr>
        <p:grpSpPr>
          <a:xfrm>
            <a:off x="870106" y="966729"/>
            <a:ext cx="1096645" cy="506730"/>
            <a:chOff x="870106" y="966729"/>
            <a:chExt cx="1096645" cy="506730"/>
          </a:xfrm>
        </p:grpSpPr>
        <p:sp>
          <p:nvSpPr>
            <p:cNvPr id="180" name="Google Shape;180;p5"/>
            <p:cNvSpPr/>
            <p:nvPr/>
          </p:nvSpPr>
          <p:spPr>
            <a:xfrm>
              <a:off x="870106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7" y="491285"/>
                  </a:lnTo>
                  <a:lnTo>
                    <a:pt x="1092583" y="475198"/>
                  </a:lnTo>
                  <a:lnTo>
                    <a:pt x="1096560" y="455498"/>
                  </a:lnTo>
                  <a:lnTo>
                    <a:pt x="1096560" y="50610"/>
                  </a:lnTo>
                  <a:lnTo>
                    <a:pt x="1092583" y="30910"/>
                  </a:lnTo>
                  <a:lnTo>
                    <a:pt x="1081737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solidFill>
              <a:srgbClr val="E5E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870106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7" y="491285"/>
                  </a:lnTo>
                  <a:lnTo>
                    <a:pt x="1092583" y="475198"/>
                  </a:lnTo>
                  <a:lnTo>
                    <a:pt x="1096560" y="455498"/>
                  </a:lnTo>
                  <a:lnTo>
                    <a:pt x="1096560" y="50610"/>
                  </a:lnTo>
                  <a:lnTo>
                    <a:pt x="1092583" y="30910"/>
                  </a:lnTo>
                  <a:lnTo>
                    <a:pt x="1081737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5"/>
          <p:cNvSpPr txBox="1"/>
          <p:nvPr/>
        </p:nvSpPr>
        <p:spPr>
          <a:xfrm>
            <a:off x="916724" y="960010"/>
            <a:ext cx="10033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Model 1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TF-IDF + LogReg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(Bag of Words)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5"/>
          <p:cNvGrpSpPr/>
          <p:nvPr/>
        </p:nvGrpSpPr>
        <p:grpSpPr>
          <a:xfrm>
            <a:off x="2331732" y="966729"/>
            <a:ext cx="1096645" cy="506730"/>
            <a:chOff x="2331732" y="966729"/>
            <a:chExt cx="1096645" cy="506730"/>
          </a:xfrm>
        </p:grpSpPr>
        <p:sp>
          <p:nvSpPr>
            <p:cNvPr id="184" name="Google Shape;184;p5"/>
            <p:cNvSpPr/>
            <p:nvPr/>
          </p:nvSpPr>
          <p:spPr>
            <a:xfrm>
              <a:off x="2331732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8" y="491285"/>
                  </a:lnTo>
                  <a:lnTo>
                    <a:pt x="1092584" y="475198"/>
                  </a:lnTo>
                  <a:lnTo>
                    <a:pt x="1096561" y="455498"/>
                  </a:lnTo>
                  <a:lnTo>
                    <a:pt x="1096561" y="50610"/>
                  </a:lnTo>
                  <a:lnTo>
                    <a:pt x="1092584" y="30910"/>
                  </a:lnTo>
                  <a:lnTo>
                    <a:pt x="1081738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solidFill>
              <a:srgbClr val="E5E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2331732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8" y="491285"/>
                  </a:lnTo>
                  <a:lnTo>
                    <a:pt x="1092584" y="475198"/>
                  </a:lnTo>
                  <a:lnTo>
                    <a:pt x="1096561" y="455498"/>
                  </a:lnTo>
                  <a:lnTo>
                    <a:pt x="1096561" y="50610"/>
                  </a:lnTo>
                  <a:lnTo>
                    <a:pt x="1092584" y="30910"/>
                  </a:lnTo>
                  <a:lnTo>
                    <a:pt x="1081738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5"/>
          <p:cNvSpPr txBox="1"/>
          <p:nvPr/>
        </p:nvSpPr>
        <p:spPr>
          <a:xfrm>
            <a:off x="2393365" y="960010"/>
            <a:ext cx="97345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Model 2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BiLSTM + GloVe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(Sequence)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" name="Google Shape;187;p5"/>
          <p:cNvGrpSpPr/>
          <p:nvPr/>
        </p:nvGrpSpPr>
        <p:grpSpPr>
          <a:xfrm>
            <a:off x="3793359" y="966729"/>
            <a:ext cx="1096645" cy="506730"/>
            <a:chOff x="3793359" y="966729"/>
            <a:chExt cx="1096645" cy="506730"/>
          </a:xfrm>
        </p:grpSpPr>
        <p:sp>
          <p:nvSpPr>
            <p:cNvPr id="188" name="Google Shape;188;p5"/>
            <p:cNvSpPr/>
            <p:nvPr/>
          </p:nvSpPr>
          <p:spPr>
            <a:xfrm>
              <a:off x="3793359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7" y="491285"/>
                  </a:lnTo>
                  <a:lnTo>
                    <a:pt x="1092583" y="475198"/>
                  </a:lnTo>
                  <a:lnTo>
                    <a:pt x="1096561" y="455498"/>
                  </a:lnTo>
                  <a:lnTo>
                    <a:pt x="1096561" y="50610"/>
                  </a:lnTo>
                  <a:lnTo>
                    <a:pt x="1092583" y="30910"/>
                  </a:lnTo>
                  <a:lnTo>
                    <a:pt x="1081737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solidFill>
              <a:srgbClr val="E5E5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3793359" y="966729"/>
              <a:ext cx="1096645" cy="506730"/>
            </a:xfrm>
            <a:custGeom>
              <a:rect b="b" l="l" r="r" t="t"/>
              <a:pathLst>
                <a:path extrusionOk="0" h="506730" w="1096645">
                  <a:moveTo>
                    <a:pt x="104595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455498"/>
                  </a:lnTo>
                  <a:lnTo>
                    <a:pt x="3977" y="475198"/>
                  </a:lnTo>
                  <a:lnTo>
                    <a:pt x="14823" y="491285"/>
                  </a:lnTo>
                  <a:lnTo>
                    <a:pt x="30910" y="502131"/>
                  </a:lnTo>
                  <a:lnTo>
                    <a:pt x="50610" y="506108"/>
                  </a:lnTo>
                  <a:lnTo>
                    <a:pt x="1045950" y="506108"/>
                  </a:lnTo>
                  <a:lnTo>
                    <a:pt x="1065650" y="502131"/>
                  </a:lnTo>
                  <a:lnTo>
                    <a:pt x="1081737" y="491285"/>
                  </a:lnTo>
                  <a:lnTo>
                    <a:pt x="1092583" y="475198"/>
                  </a:lnTo>
                  <a:lnTo>
                    <a:pt x="1096561" y="455498"/>
                  </a:lnTo>
                  <a:lnTo>
                    <a:pt x="1096561" y="50610"/>
                  </a:lnTo>
                  <a:lnTo>
                    <a:pt x="1092583" y="30910"/>
                  </a:lnTo>
                  <a:lnTo>
                    <a:pt x="1081737" y="14823"/>
                  </a:lnTo>
                  <a:lnTo>
                    <a:pt x="1065650" y="3977"/>
                  </a:lnTo>
                  <a:lnTo>
                    <a:pt x="104595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5"/>
          <p:cNvSpPr txBox="1"/>
          <p:nvPr/>
        </p:nvSpPr>
        <p:spPr>
          <a:xfrm>
            <a:off x="4067416" y="960010"/>
            <a:ext cx="54864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556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Model 3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RoBERTa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55244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(Context)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" name="Google Shape;191;p5"/>
          <p:cNvGrpSpPr/>
          <p:nvPr/>
        </p:nvGrpSpPr>
        <p:grpSpPr>
          <a:xfrm>
            <a:off x="1969197" y="1193467"/>
            <a:ext cx="1821703" cy="52705"/>
            <a:chOff x="1969197" y="1193467"/>
            <a:chExt cx="1821703" cy="52705"/>
          </a:xfrm>
        </p:grpSpPr>
        <p:sp>
          <p:nvSpPr>
            <p:cNvPr id="192" name="Google Shape;192;p5"/>
            <p:cNvSpPr/>
            <p:nvPr/>
          </p:nvSpPr>
          <p:spPr>
            <a:xfrm>
              <a:off x="1969197" y="1219784"/>
              <a:ext cx="327660" cy="0"/>
            </a:xfrm>
            <a:custGeom>
              <a:rect b="b" l="l" r="r" t="t"/>
              <a:pathLst>
                <a:path extrusionOk="0" h="120000" w="327660">
                  <a:moveTo>
                    <a:pt x="0" y="0"/>
                  </a:moveTo>
                  <a:lnTo>
                    <a:pt x="327108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2276568" y="1193467"/>
              <a:ext cx="52705" cy="52705"/>
            </a:xfrm>
            <a:custGeom>
              <a:rect b="b" l="l" r="r" t="t"/>
              <a:pathLst>
                <a:path extrusionOk="0" h="52705" w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3430824" y="1219784"/>
              <a:ext cx="327660" cy="0"/>
            </a:xfrm>
            <a:custGeom>
              <a:rect b="b" l="l" r="r" t="t"/>
              <a:pathLst>
                <a:path extrusionOk="0" h="120000" w="327660">
                  <a:moveTo>
                    <a:pt x="0" y="0"/>
                  </a:moveTo>
                  <a:lnTo>
                    <a:pt x="327108" y="0"/>
                  </a:lnTo>
                </a:path>
              </a:pathLst>
            </a:custGeom>
            <a:noFill/>
            <a:ln cap="flat" cmpd="sng" w="10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738195" y="1193467"/>
              <a:ext cx="52705" cy="52705"/>
            </a:xfrm>
            <a:custGeom>
              <a:rect b="b" l="l" r="r" t="t"/>
              <a:pathLst>
                <a:path extrusionOk="0" h="52705" w="52704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" name="Google Shape;196;p5"/>
          <p:cNvSpPr txBox="1"/>
          <p:nvPr/>
        </p:nvSpPr>
        <p:spPr>
          <a:xfrm>
            <a:off x="366877" y="1540705"/>
            <a:ext cx="47961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</a:rPr>
              <a:t>                    </a:t>
            </a:r>
            <a:r>
              <a:rPr b="1"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F1: 0.375		</a:t>
            </a:r>
            <a:r>
              <a:rPr b="1" lang="en-US" sz="1000">
                <a:solidFill>
                  <a:srgbClr val="FF0000"/>
                </a:solidFill>
              </a:rPr>
              <a:t>	</a:t>
            </a:r>
            <a:r>
              <a:rPr b="1" lang="en-US" sz="1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F1: 0.371		</a:t>
            </a:r>
            <a:r>
              <a:rPr b="1" lang="en-US" sz="1000">
                <a:solidFill>
                  <a:srgbClr val="FF0000"/>
                </a:solidFill>
              </a:rPr>
              <a:t> </a:t>
            </a:r>
            <a:r>
              <a:rPr b="1" lang="en-US" sz="10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F1: 0.530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Progression: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From statistical word counting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static embeddings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dynamic contextual embeddings.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Unexpected Result: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Complexity did not guarantee performance in the middle step.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05" y="1976284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705" y="2317902"/>
            <a:ext cx="59601" cy="596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" name="Google Shape;199;p5"/>
          <p:cNvGrpSpPr/>
          <p:nvPr/>
        </p:nvGrpSpPr>
        <p:grpSpPr>
          <a:xfrm>
            <a:off x="0" y="3148621"/>
            <a:ext cx="5760172" cy="91440"/>
            <a:chOff x="0" y="3148621"/>
            <a:chExt cx="5760172" cy="91440"/>
          </a:xfrm>
        </p:grpSpPr>
        <p:sp>
          <p:nvSpPr>
            <p:cNvPr id="200" name="Google Shape;200;p5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83993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5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206" name="Google Shape;206;p5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1: TF-IDF + Logistic Regression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95299" y="804975"/>
            <a:ext cx="3050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265430" marR="370205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422103" y="1037081"/>
            <a:ext cx="2304415" cy="198755"/>
          </a:xfrm>
          <a:custGeom>
            <a:rect b="b" l="l" r="r" t="t"/>
            <a:pathLst>
              <a:path extrusionOk="0" h="198755" w="2304415">
                <a:moveTo>
                  <a:pt x="225357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304375" y="198367"/>
                </a:lnTo>
                <a:lnTo>
                  <a:pt x="2304375" y="50800"/>
                </a:lnTo>
                <a:lnTo>
                  <a:pt x="2300366" y="31075"/>
                </a:lnTo>
                <a:lnTo>
                  <a:pt x="2289452" y="14922"/>
                </a:lnTo>
                <a:lnTo>
                  <a:pt x="2273299" y="4008"/>
                </a:lnTo>
                <a:lnTo>
                  <a:pt x="2253574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3472898" y="1065525"/>
            <a:ext cx="2304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Strengths &amp; Weaknesses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3430727" y="1235825"/>
            <a:ext cx="26811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Strong Signals: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52729" marR="438150" rtl="0" algn="l">
              <a:lnSpc>
                <a:spcPct val="1245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Gratitude (0.87)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”Thanks” Amusement (0.78)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”lol”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Weak Signals: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Relief (0.04)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No unique vocab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16" name="Google Shape;216;p6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217" name="Google Shape;217;p6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6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223" name="Google Shape;223;p6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163400" y="543075"/>
            <a:ext cx="29139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Macro F1: </a:t>
            </a:r>
            <a:r>
              <a:rPr b="1" lang="en-US" sz="1100">
                <a:solidFill>
                  <a:schemeClr val="dk1"/>
                </a:solidFill>
              </a:rPr>
              <a:t>0.375</a:t>
            </a:r>
            <a:r>
              <a:rPr lang="en-US" sz="1100">
                <a:solidFill>
                  <a:schemeClr val="dk1"/>
                </a:solidFill>
              </a:rPr>
              <a:t> (published baseline: 0.38)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Key details: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TF-IDF: 10,000 features, unigrams + bigrams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OneVsRest Logistic Regression with balanced class weights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Training time: ~2 minutes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Key Takeaway: Surprisingly strong, hard to beat with word frequency alone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2: BiLSTM + GloVe Embeddings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113823" y="768225"/>
            <a:ext cx="31473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Macro F1: 0.371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(vs Published: 0.41)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71653" y="1317045"/>
            <a:ext cx="8001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The Pipeline: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47" y="1557365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 txBox="1"/>
          <p:nvPr/>
        </p:nvSpPr>
        <p:spPr>
          <a:xfrm>
            <a:off x="188404" y="1547973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324700" y="1494850"/>
            <a:ext cx="21315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GloVe 300d Embeddings 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BiLSTM (128 hidden units) 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Dropout Layer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Linear Output (28 classes)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6" name="Google Shape;2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747" y="1747154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 txBox="1"/>
          <p:nvPr/>
        </p:nvSpPr>
        <p:spPr>
          <a:xfrm>
            <a:off x="188404" y="1737762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747" y="1936943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7"/>
          <p:cNvSpPr txBox="1"/>
          <p:nvPr/>
        </p:nvSpPr>
        <p:spPr>
          <a:xfrm>
            <a:off x="188404" y="1927551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747" y="2126732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7"/>
          <p:cNvSpPr txBox="1"/>
          <p:nvPr/>
        </p:nvSpPr>
        <p:spPr>
          <a:xfrm>
            <a:off x="188404" y="2117340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871380" y="1179524"/>
            <a:ext cx="2855595" cy="187960"/>
          </a:xfrm>
          <a:custGeom>
            <a:rect b="b" l="l" r="r" t="t"/>
            <a:pathLst>
              <a:path extrusionOk="0" h="187959" w="2855595">
                <a:moveTo>
                  <a:pt x="28043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855110" y="187823"/>
                </a:lnTo>
                <a:lnTo>
                  <a:pt x="2855110" y="50800"/>
                </a:lnTo>
                <a:lnTo>
                  <a:pt x="2851102" y="31075"/>
                </a:lnTo>
                <a:lnTo>
                  <a:pt x="2840188" y="14922"/>
                </a:lnTo>
                <a:lnTo>
                  <a:pt x="2824035" y="4008"/>
                </a:lnTo>
                <a:lnTo>
                  <a:pt x="2804310" y="0"/>
                </a:lnTo>
                <a:close/>
              </a:path>
            </a:pathLst>
          </a:custGeom>
          <a:solidFill>
            <a:srgbClr val="8D131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2922181" y="1207985"/>
            <a:ext cx="1430020" cy="153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The Domain Mismatch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2880324" y="1367475"/>
            <a:ext cx="32397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GloVe Coverage: Only 58.9%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52729" marR="365125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41% of our vocabulary had no pre-trained vector.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Why?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GloVe is trained on Wikipedia/News.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2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Reddit is full of slang, typos, and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internet-speak not found in formal corpora.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45" name="Google Shape;245;p7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246" name="Google Shape;246;p7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7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252" name="Google Shape;252;p7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 txBox="1"/>
          <p:nvPr>
            <p:ph type="title"/>
          </p:nvPr>
        </p:nvSpPr>
        <p:spPr>
          <a:xfrm>
            <a:off x="95300" y="59875"/>
            <a:ext cx="32322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Model 3: RoBERTa Fine-Tuned</a:t>
            </a:r>
            <a:endParaRPr/>
          </a:p>
        </p:txBody>
      </p:sp>
      <p:pic>
        <p:nvPicPr>
          <p:cNvPr id="259" name="Google Shape;2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705" y="1148003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705" y="1337792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6705" y="1527581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8"/>
          <p:cNvSpPr txBox="1"/>
          <p:nvPr/>
        </p:nvSpPr>
        <p:spPr>
          <a:xfrm>
            <a:off x="113830" y="602772"/>
            <a:ext cx="3709800" cy="13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Macro F1: 0.530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(vs Published BERT: 0.46)	</a:t>
            </a:r>
            <a:r>
              <a:rPr b="1" lang="en-US" sz="100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+7</a:t>
            </a:r>
            <a:r>
              <a:rPr b="1" lang="en-US" sz="1000">
                <a:solidFill>
                  <a:srgbClr val="009900"/>
                </a:solidFill>
              </a:rPr>
              <a:t>%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Why RoBERTa?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Trained on 160GB text (vs BERT’s 16GB).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Includes web data closer to Reddit language. 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Dynamic masking. no next-sentence-prediction.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Key </a:t>
            </a:r>
            <a:r>
              <a:rPr b="1" lang="en-US" sz="1000"/>
              <a:t>Techniques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924" y="2007123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 txBox="1"/>
          <p:nvPr/>
        </p:nvSpPr>
        <p:spPr>
          <a:xfrm>
            <a:off x="230581" y="1997744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349925" y="1907325"/>
            <a:ext cx="53217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Sqrt-dampened class weights: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Handles the 1:180 imbalance without overfitting rare classes.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Threshold Optimization: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Tuned per-class thresholds (0.1–0.6) on validation set instead of fixed 0.5.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6" name="Google Shape;26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924" y="2196912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230575" y="2187525"/>
            <a:ext cx="59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113825" y="2614525"/>
            <a:ext cx="41415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Biggest Gains: Context-dependent emotions (Confusion: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i="1" lang="en-US" sz="1000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21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</a:t>
            </a:r>
            <a:r>
              <a:rPr i="1" lang="en-US" sz="1000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41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). 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8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270" name="Google Shape;270;p8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" name="Google Shape;273;p8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276" name="Google Shape;276;p8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9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at a Glance</a:t>
            </a:r>
            <a:endParaRPr/>
          </a:p>
        </p:txBody>
      </p:sp>
      <p:graphicFrame>
        <p:nvGraphicFramePr>
          <p:cNvPr id="283" name="Google Shape;283;p9"/>
          <p:cNvGraphicFramePr/>
          <p:nvPr/>
        </p:nvGraphicFramePr>
        <p:xfrm>
          <a:off x="1053960" y="8359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{4C4812F0-918E-49CC-A699-0904177CFC37}</a:tableStyleId>
              </a:tblPr>
              <a:tblGrid>
                <a:gridCol w="1129675"/>
                <a:gridCol w="713750"/>
                <a:gridCol w="1231275"/>
                <a:gridCol w="577850"/>
              </a:tblGrid>
              <a:tr h="2946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6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Macro F1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6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Published Baseline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6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∆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3650" marB="0" marR="0" marL="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6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Majority Class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17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0.018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17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—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17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—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7175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2273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TF-IDF + LogReg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0.375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0.38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-0.005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</a:tr>
              <a:tr h="2260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BiLSTM + GloVe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0.371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0.41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-0.039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19050" marB="0" marR="0" marL="0"/>
                </a:tc>
              </a:tr>
              <a:tr h="2432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RoBERTa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32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0.530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32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86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0.46 (BERT)</a:t>
                      </a:r>
                      <a:endParaRPr sz="10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2032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+0.070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0325" marB="0" marR="0" marL="0"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4" name="Google Shape;284;p9"/>
          <p:cNvSpPr txBox="1"/>
          <p:nvPr/>
        </p:nvSpPr>
        <p:spPr>
          <a:xfrm>
            <a:off x="114249" y="2307191"/>
            <a:ext cx="5532120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0">
            <a:spAutoFit/>
          </a:bodyPr>
          <a:lstStyle/>
          <a:p>
            <a:pPr indent="-2090420" lvl="0" marL="2102485" marR="508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Note: BiLSTM </a:t>
            </a:r>
            <a:r>
              <a:rPr i="1" lang="en-US" sz="900">
                <a:latin typeface="Arial"/>
                <a:ea typeface="Arial"/>
                <a:cs typeface="Arial"/>
                <a:sym typeface="Arial"/>
              </a:rPr>
              <a:t>≈ </a:t>
            </a:r>
            <a:r>
              <a:rPr lang="en-US" sz="900">
                <a:latin typeface="Arial"/>
                <a:ea typeface="Arial"/>
                <a:cs typeface="Arial"/>
                <a:sym typeface="Arial"/>
              </a:rPr>
              <a:t>TF-IDF due to domain mismatch in embeddings. RoBERTa’s contextual understanding drives the real performance jump.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9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286" name="Google Shape;286;p9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" name="Google Shape;289;p9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292" name="Google Shape;292;p9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/>
          <p:nvPr/>
        </p:nvSpPr>
        <p:spPr>
          <a:xfrm>
            <a:off x="0" y="0"/>
            <a:ext cx="5760085" cy="483234"/>
          </a:xfrm>
          <a:custGeom>
            <a:rect b="b" l="l" r="r" t="t"/>
            <a:pathLst>
              <a:path extrusionOk="0" h="483234" w="5760085">
                <a:moveTo>
                  <a:pt x="5759996" y="0"/>
                </a:moveTo>
                <a:lnTo>
                  <a:pt x="0" y="0"/>
                </a:lnTo>
                <a:lnTo>
                  <a:pt x="0" y="482968"/>
                </a:lnTo>
                <a:lnTo>
                  <a:pt x="5759996" y="482968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 txBox="1"/>
          <p:nvPr>
            <p:ph type="title"/>
          </p:nvPr>
        </p:nvSpPr>
        <p:spPr>
          <a:xfrm>
            <a:off x="95300" y="10450"/>
            <a:ext cx="48756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0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Which Emotions Are Easiest and Hardest?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Based on RoBERTa F1 Scores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106996" y="1099679"/>
            <a:ext cx="2745105" cy="215265"/>
          </a:xfrm>
          <a:custGeom>
            <a:rect b="b" l="l" r="r" t="t"/>
            <a:pathLst>
              <a:path extrusionOk="0" h="215265" w="2745105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744947" y="215238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157800" y="1136550"/>
            <a:ext cx="2745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Easiest (Distinctive Lexicon)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07047" y="1214682"/>
            <a:ext cx="27450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Gratitude: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0.91 (”thanks”)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Amusement: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0.82 (”lol”, ”haha”)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Love: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0.81 (”love”, ”¡3”)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Admiration: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0.71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908096" y="1099679"/>
            <a:ext cx="2745105" cy="215265"/>
          </a:xfrm>
          <a:custGeom>
            <a:rect b="b" l="l" r="r" t="t"/>
            <a:pathLst>
              <a:path extrusionOk="0" h="215265" w="2745104">
                <a:moveTo>
                  <a:pt x="269414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744947" y="215238"/>
                </a:lnTo>
                <a:lnTo>
                  <a:pt x="2744947" y="50800"/>
                </a:lnTo>
                <a:lnTo>
                  <a:pt x="2740938" y="31075"/>
                </a:lnTo>
                <a:lnTo>
                  <a:pt x="2730024" y="14922"/>
                </a:lnTo>
                <a:lnTo>
                  <a:pt x="2713871" y="4008"/>
                </a:lnTo>
                <a:lnTo>
                  <a:pt x="2694146" y="0"/>
                </a:lnTo>
                <a:close/>
              </a:path>
            </a:pathLst>
          </a:custGeom>
          <a:solidFill>
            <a:srgbClr val="8D131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 txBox="1"/>
          <p:nvPr/>
        </p:nvSpPr>
        <p:spPr>
          <a:xfrm>
            <a:off x="2958902" y="1136550"/>
            <a:ext cx="25416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Hardest (Subtle/Contextual)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2908146" y="1214682"/>
            <a:ext cx="27450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Realization: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0.27 (”oh I see”)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Disappointment: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0.33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Nervousness: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0.36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52729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Relief: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0.38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1113499" y="2394625"/>
            <a:ext cx="38574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Correlation between Training Size and F1 is only r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= 0</a:t>
            </a:r>
            <a:r>
              <a:rPr i="1" lang="en-US" sz="1000"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34</a:t>
            </a: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latin typeface="Arial"/>
                <a:ea typeface="Arial"/>
                <a:cs typeface="Arial"/>
                <a:sym typeface="Arial"/>
              </a:rPr>
              <a:t>Difficulty is about ambiguity, not just data quantity.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6" name="Google Shape;306;p10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307" name="Google Shape;307;p10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10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313" name="Google Shape;313;p10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 txBox="1"/>
          <p:nvPr>
            <p:ph type="title"/>
          </p:nvPr>
        </p:nvSpPr>
        <p:spPr>
          <a:xfrm>
            <a:off x="95300" y="59875"/>
            <a:ext cx="3798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Neutral Absorption Problem</a:t>
            </a:r>
            <a:endParaRPr/>
          </a:p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28" y="1165301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 txBox="1"/>
          <p:nvPr/>
        </p:nvSpPr>
        <p:spPr>
          <a:xfrm>
            <a:off x="71649" y="860450"/>
            <a:ext cx="36249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Major Error Pattern: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265430" rtl="0" algn="l">
              <a:lnSpc>
                <a:spcPct val="120000"/>
              </a:lnSpc>
              <a:spcBef>
                <a:spcPts val="295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When the model has low confidence, it defaults to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26543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Neutral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(the dominant class).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2" name="Google Shape;32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4528" y="1823237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528" y="2013026"/>
            <a:ext cx="59601" cy="5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528" y="2202814"/>
            <a:ext cx="59601" cy="596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 txBox="1"/>
          <p:nvPr/>
        </p:nvSpPr>
        <p:spPr>
          <a:xfrm>
            <a:off x="71653" y="1633693"/>
            <a:ext cx="22122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53364" lvl="0" marL="265430" marR="5080" rtl="0" algn="l">
              <a:lnSpc>
                <a:spcPct val="124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Specific Absorptions (Validation Set): Annoyance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Neutral: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93 cases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Approval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Neutral: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86 cases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Realization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Neutral: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63 cases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3422103" y="1223073"/>
            <a:ext cx="2304415" cy="187960"/>
          </a:xfrm>
          <a:custGeom>
            <a:rect b="b" l="l" r="r" t="t"/>
            <a:pathLst>
              <a:path extrusionOk="0" h="187959" w="2304415">
                <a:moveTo>
                  <a:pt x="225357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304375" y="187823"/>
                </a:lnTo>
                <a:lnTo>
                  <a:pt x="2304375" y="50800"/>
                </a:lnTo>
                <a:lnTo>
                  <a:pt x="2300366" y="31075"/>
                </a:lnTo>
                <a:lnTo>
                  <a:pt x="2289452" y="14922"/>
                </a:lnTo>
                <a:lnTo>
                  <a:pt x="2273299" y="4008"/>
                </a:lnTo>
                <a:lnTo>
                  <a:pt x="2253574" y="0"/>
                </a:lnTo>
                <a:close/>
              </a:path>
            </a:pathLst>
          </a:custGeom>
          <a:solidFill>
            <a:srgbClr val="26268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 txBox="1"/>
          <p:nvPr/>
        </p:nvSpPr>
        <p:spPr>
          <a:xfrm>
            <a:off x="3472903" y="1251520"/>
            <a:ext cx="1073150" cy="153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Other Confusions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2883403" y="1411488"/>
            <a:ext cx="3072900" cy="6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7359" marR="54356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Semantic Overlap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Anger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↔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Annoyance Apprroval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↔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Admiration Confusion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↔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Curiosity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9" name="Google Shape;329;p11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330" name="Google Shape;330;p11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3" name="Google Shape;333;p11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334" name="Google Shape;334;p11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336" name="Google Shape;336;p11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"/>
          <p:cNvSpPr/>
          <p:nvPr/>
        </p:nvSpPr>
        <p:spPr>
          <a:xfrm>
            <a:off x="0" y="-12"/>
            <a:ext cx="5760085" cy="350520"/>
          </a:xfrm>
          <a:custGeom>
            <a:rect b="b" l="l" r="r" t="t"/>
            <a:pathLst>
              <a:path extrusionOk="0" h="350520" w="5760085">
                <a:moveTo>
                  <a:pt x="5759996" y="0"/>
                </a:moveTo>
                <a:lnTo>
                  <a:pt x="0" y="0"/>
                </a:lnTo>
                <a:lnTo>
                  <a:pt x="0" y="350126"/>
                </a:lnTo>
                <a:lnTo>
                  <a:pt x="5759996" y="350126"/>
                </a:lnTo>
                <a:lnTo>
                  <a:pt x="5759996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 txBox="1"/>
          <p:nvPr>
            <p:ph type="title"/>
          </p:nvPr>
        </p:nvSpPr>
        <p:spPr>
          <a:xfrm>
            <a:off x="95300" y="10462"/>
            <a:ext cx="3357879" cy="442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5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Takeaways</a:t>
            </a:r>
            <a:endParaRPr/>
          </a:p>
        </p:txBody>
      </p:sp>
      <p:pic>
        <p:nvPicPr>
          <p:cNvPr id="343" name="Google Shape;3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924" y="888634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2"/>
          <p:cNvSpPr txBox="1"/>
          <p:nvPr/>
        </p:nvSpPr>
        <p:spPr>
          <a:xfrm>
            <a:off x="230581" y="879255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 txBox="1"/>
          <p:nvPr/>
        </p:nvSpPr>
        <p:spPr>
          <a:xfrm>
            <a:off x="366875" y="838100"/>
            <a:ext cx="51336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Simple Baselines are Hard to Beat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TF-IDF is competitive for emotions with clear vocabulary. Never skip the baseline.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6" name="Google Shape;3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24" y="1382093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 txBox="1"/>
          <p:nvPr/>
        </p:nvSpPr>
        <p:spPr>
          <a:xfrm>
            <a:off x="230581" y="1372700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 txBox="1"/>
          <p:nvPr/>
        </p:nvSpPr>
        <p:spPr>
          <a:xfrm>
            <a:off x="366875" y="1331550"/>
            <a:ext cx="53931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Embeddings Need Domain Alignment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Formal Wikipedia embeddings (GloVe) failed on informal Reddit text. Data match </a:t>
            </a:r>
            <a:r>
              <a:rPr i="1" lang="en-US" sz="1000"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Model complexity.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9" name="Google Shape;34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924" y="2027367"/>
            <a:ext cx="104301" cy="10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2"/>
          <p:cNvSpPr txBox="1"/>
          <p:nvPr/>
        </p:nvSpPr>
        <p:spPr>
          <a:xfrm>
            <a:off x="230581" y="2017988"/>
            <a:ext cx="59055" cy="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2"/>
          <p:cNvSpPr txBox="1"/>
          <p:nvPr/>
        </p:nvSpPr>
        <p:spPr>
          <a:xfrm>
            <a:off x="366875" y="1976825"/>
            <a:ext cx="53496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Contextual Models Unlock Subtle Emotions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2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RoBERTa’s gain wasn’t general—it came specifically from context-heavy classes (Confusion, Approval) that Bag-of-Words cannot capture.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2" name="Google Shape;352;p12"/>
          <p:cNvGrpSpPr/>
          <p:nvPr/>
        </p:nvGrpSpPr>
        <p:grpSpPr>
          <a:xfrm>
            <a:off x="0" y="3148621"/>
            <a:ext cx="5760185" cy="91440"/>
            <a:chOff x="0" y="3148621"/>
            <a:chExt cx="5760185" cy="91440"/>
          </a:xfrm>
        </p:grpSpPr>
        <p:sp>
          <p:nvSpPr>
            <p:cNvPr id="353" name="Google Shape;353;p12"/>
            <p:cNvSpPr/>
            <p:nvPr/>
          </p:nvSpPr>
          <p:spPr>
            <a:xfrm>
              <a:off x="0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2"/>
            <p:cNvSpPr/>
            <p:nvPr/>
          </p:nvSpPr>
          <p:spPr>
            <a:xfrm>
              <a:off x="1919973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2"/>
            <p:cNvSpPr/>
            <p:nvPr/>
          </p:nvSpPr>
          <p:spPr>
            <a:xfrm>
              <a:off x="3839946" y="3148621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6" name="Google Shape;356;p12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359" name="Google Shape;359;p12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13"/>
          <p:cNvGrpSpPr/>
          <p:nvPr/>
        </p:nvGrpSpPr>
        <p:grpSpPr>
          <a:xfrm>
            <a:off x="0" y="3148622"/>
            <a:ext cx="5760185" cy="91440"/>
            <a:chOff x="0" y="3148622"/>
            <a:chExt cx="5760185" cy="91440"/>
          </a:xfrm>
        </p:grpSpPr>
        <p:sp>
          <p:nvSpPr>
            <p:cNvPr id="365" name="Google Shape;365;p13"/>
            <p:cNvSpPr/>
            <p:nvPr/>
          </p:nvSpPr>
          <p:spPr>
            <a:xfrm>
              <a:off x="0" y="3148622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A3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3"/>
            <p:cNvSpPr/>
            <p:nvPr/>
          </p:nvSpPr>
          <p:spPr>
            <a:xfrm>
              <a:off x="1919973" y="3148622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3839946" y="3148622"/>
              <a:ext cx="1920239" cy="91440"/>
            </a:xfrm>
            <a:custGeom>
              <a:rect b="b" l="l" r="r" t="t"/>
              <a:pathLst>
                <a:path extrusionOk="0" h="91439" w="1920239">
                  <a:moveTo>
                    <a:pt x="1919973" y="0"/>
                  </a:moveTo>
                  <a:lnTo>
                    <a:pt x="0" y="0"/>
                  </a:lnTo>
                  <a:lnTo>
                    <a:pt x="0" y="91376"/>
                  </a:lnTo>
                  <a:lnTo>
                    <a:pt x="1919973" y="91376"/>
                  </a:lnTo>
                  <a:lnTo>
                    <a:pt x="1919973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8" name="Google Shape;368;p13"/>
          <p:cNvSpPr txBox="1"/>
          <p:nvPr>
            <p:ph type="title"/>
          </p:nvPr>
        </p:nvSpPr>
        <p:spPr>
          <a:xfrm>
            <a:off x="2017788" y="460500"/>
            <a:ext cx="1725930" cy="403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 txBox="1"/>
          <p:nvPr>
            <p:ph idx="10" type="dt"/>
          </p:nvPr>
        </p:nvSpPr>
        <p:spPr>
          <a:xfrm>
            <a:off x="246824" y="3151037"/>
            <a:ext cx="142621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Wakeford, Afaq, Tarazi (Course: Hands-on NLP)</a:t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2365641" y="3151037"/>
            <a:ext cx="1029335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u="sng">
                <a:solidFill>
                  <a:srgbClr val="8E0000"/>
                </a:solidFill>
                <a:latin typeface="Arial"/>
                <a:ea typeface="Arial"/>
                <a:cs typeface="Arial"/>
                <a:sym typeface="Arial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Fine-Grained Emotion Classification</a:t>
            </a:r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 txBox="1"/>
          <p:nvPr>
            <p:ph idx="11" type="ftr"/>
          </p:nvPr>
        </p:nvSpPr>
        <p:spPr>
          <a:xfrm>
            <a:off x="4438777" y="3151037"/>
            <a:ext cx="532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February 13, 2026</a:t>
            </a:r>
            <a:endParaRPr/>
          </a:p>
        </p:txBody>
      </p:sp>
      <p:sp>
        <p:nvSpPr>
          <p:cNvPr id="372" name="Google Shape;372;p13"/>
          <p:cNvSpPr txBox="1"/>
          <p:nvPr>
            <p:ph idx="12" type="sldNum"/>
          </p:nvPr>
        </p:nvSpPr>
        <p:spPr>
          <a:xfrm>
            <a:off x="5500499" y="3151037"/>
            <a:ext cx="215900" cy="8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13</a:t>
            </a:r>
            <a:endParaRPr/>
          </a:p>
        </p:txBody>
      </p:sp>
      <p:sp>
        <p:nvSpPr>
          <p:cNvPr id="373" name="Google Shape;373;p13"/>
          <p:cNvSpPr txBox="1"/>
          <p:nvPr/>
        </p:nvSpPr>
        <p:spPr>
          <a:xfrm>
            <a:off x="1327200" y="1116886"/>
            <a:ext cx="3107055" cy="138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Tahoma"/>
                <a:ea typeface="Tahoma"/>
                <a:cs typeface="Tahoma"/>
                <a:sym typeface="Tahoma"/>
              </a:rPr>
              <a:t>Any Questions?</a:t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2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000">
                <a:latin typeface="Arial"/>
                <a:ea typeface="Arial"/>
                <a:cs typeface="Arial"/>
                <a:sym typeface="Arial"/>
              </a:rPr>
              <a:t>Summary of F1 Scores: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TF-IDF (0.375)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BiLSTM (0.371) </a:t>
            </a:r>
            <a:r>
              <a:rPr lang="en-US" sz="1000">
                <a:latin typeface="Lucida Sans"/>
                <a:ea typeface="Lucida Sans"/>
                <a:cs typeface="Lucida Sans"/>
                <a:sym typeface="Lucida Sans"/>
              </a:rPr>
              <a:t>→ </a:t>
            </a:r>
            <a:r>
              <a:rPr lang="en-US" sz="1000">
                <a:latin typeface="Tahoma"/>
                <a:ea typeface="Tahoma"/>
                <a:cs typeface="Tahoma"/>
                <a:sym typeface="Tahoma"/>
              </a:rPr>
              <a:t>RoBERTa (0.530)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latin typeface="Trebuchet MS"/>
                <a:ea typeface="Trebuchet MS"/>
                <a:cs typeface="Trebuchet MS"/>
                <a:sym typeface="Trebuchet MS"/>
              </a:rPr>
              <a:t>Code available in our Jupyter notebook on Google Colab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latin typeface="Arial"/>
                <a:ea typeface="Arial"/>
                <a:cs typeface="Arial"/>
                <a:sym typeface="Arial"/>
              </a:rPr>
              <a:t>Oliver Wakeford 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Ahzam Afaq </a:t>
            </a:r>
            <a:r>
              <a:rPr i="1" lang="en-US" sz="800"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en-US" sz="800">
                <a:latin typeface="Arial"/>
                <a:ea typeface="Arial"/>
                <a:cs typeface="Arial"/>
                <a:sym typeface="Arial"/>
              </a:rPr>
              <a:t>Hamza Tarazi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E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2026-02-12T19:40:55Z</dcterms:created>
  <dc:creator>Oliver Wakeford, Ahzam Afaq, Hamza Tarazi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2026-02-12T00:00:00Z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